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8A8F6"/>
    <a:srgbClr val="0F7FF6"/>
    <a:srgbClr val="7BBC49"/>
    <a:srgbClr val="77BB69"/>
    <a:srgbClr val="329AD7"/>
    <a:srgbClr val="F7F9FC"/>
    <a:srgbClr val="9DC0E3"/>
    <a:srgbClr val="DFEAF6"/>
    <a:srgbClr val="E1E0E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91" autoAdjust="0"/>
    <p:restoredTop sz="94607" autoAdjust="0"/>
  </p:normalViewPr>
  <p:slideViewPr>
    <p:cSldViewPr snapToGrid="0" showGuides="1">
      <p:cViewPr varScale="1">
        <p:scale>
          <a:sx n="62" d="100"/>
          <a:sy n="62" d="100"/>
        </p:scale>
        <p:origin x="1192" y="28"/>
      </p:cViewPr>
      <p:guideLst>
        <p:guide orient="horz" pos="235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E6E62-0A4A-440F-A3A0-1904151E0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DF4-6413-405D-8311-20A510DC5E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7" descr="基金会+OH logo组合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grpSp>
        <p:nvGrpSpPr>
          <p:cNvPr id="4" name="组合 13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M">
    <p:bg>
      <p:bgPr>
        <a:solidFill>
          <a:schemeClr val="bg1"/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/>
          <p:cNvPicPr>
            <a:picLocks noChangeAspect="1"/>
          </p:cNvPicPr>
          <p:nvPr userDrawn="1"/>
        </p:nvPicPr>
        <p:blipFill rotWithShape="1">
          <a:blip r:embed="rId2" cstate="print">
            <a:alphaModFix amt="20000"/>
          </a:blip>
          <a:srcRect b="13216"/>
          <a:stretch>
            <a:fillRect/>
          </a:stretch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grpSp>
        <p:nvGrpSpPr>
          <p:cNvPr id="9" name="组合 2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10" name="文本框 3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1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2" name="图片 9"/>
          <p:cNvPicPr>
            <a:picLocks noChangeAspect="1"/>
          </p:cNvPicPr>
          <p:nvPr userDrawn="1"/>
        </p:nvPicPr>
        <p:blipFill>
          <a:blip r:embed="rId3" cstate="print">
            <a:alphaModFix amt="21000"/>
          </a:blip>
          <a:srcRect/>
          <a:stretch>
            <a:fillRect/>
          </a:stretch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3" name="图片 4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solidFill>
          <a:schemeClr val="bg1"/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13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2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2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8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/>
              <a:t>单击此处编辑母版文本</a:t>
            </a:r>
            <a:endParaRPr kumimoji="1" lang="zh-CN" altLang="en-US"/>
          </a:p>
        </p:txBody>
      </p:sp>
      <p:pic>
        <p:nvPicPr>
          <p:cNvPr id="29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/>
          <p:cNvSpPr/>
          <p:nvPr userDrawn="1"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chemeClr val="bg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3" name="图片 3"/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biLevel thresh="25000"/>
          </a:blip>
          <a:srcRect t="32381"/>
          <a:stretch>
            <a:fillRect/>
          </a:stretch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grpSp>
        <p:nvGrpSpPr>
          <p:cNvPr id="34" name="组合 5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35" name="文本框 10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3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37" name="图片 4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40" name="组合 1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41" name="文本框 2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2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3" name="矩形 9"/>
          <p:cNvSpPr/>
          <p:nvPr userDrawn="1"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8A8F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8A8F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文本框 10"/>
          <p:cNvSpPr txBox="1"/>
          <p:nvPr userDrawn="1"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CONTENTS</a:t>
            </a:r>
            <a:endParaRPr lang="en-US" altLang="zh-CN" sz="3200" b="1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47" name="组合 5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48" name="文本框 6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9" name="直接连接符 7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Source Han Sans CN Normal" panose="020B0800000000000000" charset="-122"/>
                <a:ea typeface="Source Han Sans CN Normal" panose="020B08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3417888" y="5226665"/>
            <a:ext cx="5356225" cy="701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申报人：孙涵韬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2026 年 10 月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" name="文本框 6"/>
          <p:cNvSpPr txBox="1"/>
          <p:nvPr/>
        </p:nvSpPr>
        <p:spPr>
          <a:xfrm>
            <a:off x="1908747" y="1852426"/>
            <a:ext cx="8374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月度激励</a:t>
            </a:r>
            <a:r>
              <a:rPr lang="en-US" altLang="zh-CN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-</a:t>
            </a:r>
            <a:r>
              <a:rPr lang="zh-CN" altLang="en-US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星光应用申报</a:t>
            </a:r>
            <a:endParaRPr lang="en-US" altLang="zh-CN" sz="4800" b="1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3232175" y="2868089"/>
            <a:ext cx="5727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杉课</a:t>
            </a:r>
            <a:endParaRPr lang="en-US" altLang="zh-CN" sz="2800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26"/>
          <p:cNvSpPr/>
          <p:nvPr/>
        </p:nvSpPr>
        <p:spPr>
          <a:xfrm>
            <a:off x="2741964" y="213821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27"/>
          <p:cNvSpPr/>
          <p:nvPr/>
        </p:nvSpPr>
        <p:spPr>
          <a:xfrm>
            <a:off x="3585244" y="307610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应用核心功能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8" name="圆角矩形 28"/>
          <p:cNvSpPr/>
          <p:nvPr/>
        </p:nvSpPr>
        <p:spPr>
          <a:xfrm>
            <a:off x="2734344" y="306340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29"/>
          <p:cNvSpPr/>
          <p:nvPr/>
        </p:nvSpPr>
        <p:spPr>
          <a:xfrm>
            <a:off x="3585244" y="400130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创新性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0" name="圆角矩形 30"/>
          <p:cNvSpPr/>
          <p:nvPr/>
        </p:nvSpPr>
        <p:spPr>
          <a:xfrm>
            <a:off x="2734344" y="398860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44"/>
          <p:cNvSpPr/>
          <p:nvPr/>
        </p:nvSpPr>
        <p:spPr>
          <a:xfrm>
            <a:off x="3597944" y="213821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创作简介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3" name="圆角矩形 29"/>
          <p:cNvSpPr/>
          <p:nvPr/>
        </p:nvSpPr>
        <p:spPr>
          <a:xfrm>
            <a:off x="3597944" y="491379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商业价值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4" name="圆角矩形 30"/>
          <p:cNvSpPr/>
          <p:nvPr/>
        </p:nvSpPr>
        <p:spPr>
          <a:xfrm>
            <a:off x="2747044" y="490109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dirty="0"/>
              <a:t>创作简介</a:t>
            </a:r>
            <a:endParaRPr kumimoji="1"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4"/>
          <p:cNvSpPr txBox="1"/>
          <p:nvPr/>
        </p:nvSpPr>
        <p:spPr>
          <a:xfrm>
            <a:off x="681316" y="2280540"/>
            <a:ext cx="3012141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为什么做这款APP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19" name="文本框 4"/>
          <p:cNvSpPr txBox="1"/>
          <p:nvPr/>
        </p:nvSpPr>
        <p:spPr>
          <a:xfrm>
            <a:off x="681316" y="4569388"/>
            <a:ext cx="3012141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应用一句话亮点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681316" y="950500"/>
            <a:ext cx="8516472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团队简介：队长兼独立开发者 孙涵韬；学校：上海杉达学院；专业：数据科学与大数据技术；指导老师：祝欣蓉；联络手机：13601785818；微信号：bobohihihihi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2697480"/>
            <a:ext cx="10789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pitchFamily="34" charset="-122"/>
              </a:rPr>
              <a:t>作为在校学生，我发现鸿蒙 PC 端一直缺少一款好用的课表工具：现有课表应用多为手机竖屏设计，放到 2in1 大屏上要么拉伸变形、要么功能缩水。于是我开发了「杉课」——一款专为 HarmonyOS PC/2in1 打造的课表应用，支持拍照识别、Excel、CSV 多种方式一键导入课表，并用课程重要程度分色直观呈现每周安排，让大屏真正为学习服务。</a:t>
            </a:r>
            <a:endParaRPr sz="1300" b="0">
              <a:solidFill>
                <a:srgbClr val="404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49834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87D2B"/>
                </a:solidFill>
                <a:latin typeface="微软雅黑" panose="020B0503020204020204" pitchFamily="34" charset="-122"/>
              </a:rPr>
              <a:t>专为鸿蒙 PC 原生打造的零权限离线课表：课表图片一拍，即变结构化周视图。</a:t>
            </a:r>
            <a:endParaRPr sz="1500" b="1">
              <a:solidFill>
                <a:srgbClr val="E87D2B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应用核心功能</a:t>
            </a:r>
            <a:endParaRPr kumimoji="1"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3"/>
          <p:cNvSpPr txBox="1"/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差异化功能一览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504" y="1572768"/>
            <a:ext cx="6309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4E79"/>
                </a:solidFill>
                <a:latin typeface="微软雅黑" panose="020B0503020204020204" pitchFamily="34" charset="-122"/>
              </a:rPr>
              <a:t>• 离线图片识别导入</a:t>
            </a:r>
            <a:endParaRPr sz="1400" b="1">
              <a:solidFill>
                <a:srgbClr val="1F4E79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 panose="020B0503020204020204" pitchFamily="34" charset="-122"/>
              </a:rPr>
              <a:t>    调用系统端侧 OCR，课表截图或拍照免登录自动解析，全程离线、数据不出设备。</a:t>
            </a:r>
            <a:endParaRPr sz="1250" b="0">
              <a:solidFill>
                <a:srgbClr val="40404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4E79"/>
                </a:solidFill>
                <a:latin typeface="微软雅黑" panose="020B0503020204020204" pitchFamily="34" charset="-122"/>
              </a:rPr>
              <a:t>• 多格式文件导入</a:t>
            </a:r>
            <a:endParaRPr sz="1400" b="1">
              <a:solidFill>
                <a:srgbClr val="1F4E79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 panose="020B0503020204020204" pitchFamily="34" charset="-122"/>
              </a:rPr>
              <a:t>    教务系统导出的 xlsx / CSV 课表文件直接解析成结构化课程，无需手动逐条录入。</a:t>
            </a:r>
            <a:endParaRPr sz="1250" b="0">
              <a:solidFill>
                <a:srgbClr val="40404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4E79"/>
                </a:solidFill>
                <a:latin typeface="微软雅黑" panose="020B0503020204020204" pitchFamily="34" charset="-122"/>
              </a:rPr>
              <a:t>• 重要程度分色显示</a:t>
            </a:r>
            <a:endParaRPr sz="1400" b="1">
              <a:solidFill>
                <a:srgbClr val="1F4E79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 panose="020B0503020204020204" pitchFamily="34" charset="-122"/>
              </a:rPr>
              <a:t>    按课程重要程度三色渲染课表格子，本周重点一眼锁定，时段与周次可灵活调整。</a:t>
            </a:r>
            <a:endParaRPr sz="1250" b="0">
              <a:solidFill>
                <a:srgbClr val="40404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4E79"/>
                </a:solidFill>
                <a:latin typeface="微软雅黑" panose="020B0503020204020204" pitchFamily="34" charset="-122"/>
              </a:rPr>
              <a:t>• 大屏原生周视图</a:t>
            </a:r>
            <a:endParaRPr sz="1400" b="1">
              <a:solidFill>
                <a:srgbClr val="1F4E79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 panose="020B0503020204020204" pitchFamily="34" charset="-122"/>
              </a:rPr>
              <a:t>    PC / 2in1 全宽七列网格 + 节次时间轴 + 本周高亮，充分释放横屏大屏空间。</a:t>
            </a:r>
            <a:endParaRPr sz="1250" b="0">
              <a:solidFill>
                <a:srgbClr val="40404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4E79"/>
                </a:solidFill>
                <a:latin typeface="微软雅黑" panose="020B0503020204020204" pitchFamily="34" charset="-122"/>
              </a:rPr>
              <a:t>• 课程详情与自定义备注</a:t>
            </a:r>
            <a:endParaRPr sz="1400" b="1">
              <a:solidFill>
                <a:srgbClr val="1F4E79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 panose="020B0503020204020204" pitchFamily="34" charset="-122"/>
              </a:rPr>
              <a:t>    点击课程即见任科老师与课程内容介绍，支持独立自定义备注随时补充记录。</a:t>
            </a:r>
            <a:endParaRPr sz="1250" b="0">
              <a:solidFill>
                <a:srgbClr val="40404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4E79"/>
                </a:solidFill>
                <a:latin typeface="微软雅黑" panose="020B0503020204020204" pitchFamily="34" charset="-122"/>
              </a:rPr>
              <a:t>• 零权限纯本地</a:t>
            </a:r>
            <a:endParaRPr sz="1400" b="1">
              <a:solidFill>
                <a:srgbClr val="1F4E79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 panose="020B0503020204020204" pitchFamily="34" charset="-122"/>
              </a:rPr>
              <a:t>    不申请任何隐私权限、不发网络请求，数据全部本地数据库存储，无网完整可用。</a:t>
            </a:r>
            <a:endParaRPr sz="1250" b="0">
              <a:solidFill>
                <a:srgbClr val="40404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6" name="Picture 25" descr="upload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572768"/>
            <a:ext cx="4526280" cy="2546032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pic>
        <p:nvPicPr>
          <p:cNvPr id="27" name="Picture 26" descr="upload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4160520"/>
            <a:ext cx="4526280" cy="2546032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创新性</a:t>
            </a:r>
            <a:endParaRPr lang="zh-CN" altLang="en-US" dirty="0"/>
          </a:p>
        </p:txBody>
      </p:sp>
      <p:sp>
        <p:nvSpPr>
          <p:cNvPr id="28" name="文本框 3"/>
          <p:cNvSpPr txBox="1"/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体验的创新与提升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9" name="文本框 4"/>
          <p:cNvSpPr txBox="1"/>
          <p:nvPr/>
        </p:nvSpPr>
        <p:spPr>
          <a:xfrm>
            <a:off x="600634" y="3923929"/>
            <a:ext cx="383689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接入的鸿蒙特性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3504" y="1572768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pitchFamily="34" charset="-122"/>
              </a:rPr>
              <a:t>• 一拍即得：课表图片离线 OCR + 智能网格解析，自动还原为结构化课表，导入全程不到一分钟。</a:t>
            </a:r>
            <a:endParaRPr sz="1300" b="0">
              <a:solidFill>
                <a:srgbClr val="40404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pitchFamily="34" charset="-122"/>
              </a:rPr>
              <a:t>• 为大屏重新设计：宽屏七列网格、居中弹窗编辑、键鼠友好操作，交互对齐 PC 桌面应用习惯。</a:t>
            </a:r>
            <a:endParaRPr sz="1300" b="0">
              <a:solidFill>
                <a:srgbClr val="40404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pitchFamily="34" charset="-122"/>
              </a:rPr>
              <a:t>• 灵活可调：节次时间、学期起点自由设置，当前周次自动推算，重要程度分色随时调整。</a:t>
            </a:r>
            <a:endParaRPr sz="1300" b="0">
              <a:solidFill>
                <a:srgbClr val="404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3504" y="43891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pitchFamily="34" charset="-122"/>
              </a:rPr>
              <a:t>• Core Vision Kit 端侧文本识别：免权限、纯离线 OCR，截图识别全程在设备本地完成，隐私不外泄。</a:t>
            </a:r>
            <a:endParaRPr sz="1300" b="0">
              <a:solidFill>
                <a:srgbClr val="40404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pitchFamily="34" charset="-122"/>
              </a:rPr>
              <a:t>• ArkUI 响应式布局 + Navigation 导航：原生适配 2in1 大屏，窗口自由缩放布局不变形，页面转场系统级流畅。</a:t>
            </a:r>
            <a:endParaRPr sz="1300" b="0">
              <a:solidFill>
                <a:srgbClr val="40404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pitchFamily="34" charset="-122"/>
              </a:rPr>
              <a:t>• relationalStore 本地数据库 + AppStorage 联动：WAL 模式可靠存储，跨页面状态即时刷新，离线场景完整可用。</a:t>
            </a:r>
            <a:endParaRPr sz="1300" b="0">
              <a:solidFill>
                <a:srgbClr val="404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2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商业价值</a:t>
            </a:r>
            <a:endParaRPr lang="zh-CN" altLang="en-US" dirty="0"/>
          </a:p>
        </p:txBody>
      </p:sp>
      <p:sp>
        <p:nvSpPr>
          <p:cNvPr id="33" name="文本框 3"/>
          <p:cNvSpPr txBox="1"/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用户范围、用户反馈、商业潜力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3504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pitchFamily="34" charset="-122"/>
              </a:rPr>
              <a:t>用户范围</a:t>
            </a:r>
            <a:endParaRPr sz="1500" b="1">
              <a:solidFill>
                <a:srgbClr val="1F4E79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pitchFamily="34" charset="-122"/>
              </a:rPr>
              <a:t>面向全国高校学生及鸿蒙 PC / 2in1 设备用户；课表是大学四年高频刚需，随鸿蒙 PC 生态扩张，目标用户群同步快速增长。</a:t>
            </a:r>
            <a:endParaRPr sz="1300" b="0">
              <a:solidFill>
                <a:srgbClr val="40404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pitchFamily="34" charset="-122"/>
              </a:rPr>
              <a:t>用户反馈</a:t>
            </a:r>
            <a:endParaRPr sz="1500" b="1">
              <a:solidFill>
                <a:srgbClr val="1F4E79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pitchFamily="34" charset="-122"/>
              </a:rPr>
              <a:t>应用已通过华为应用市场审核并公开上架，完成 1.0.1 → 1.0.2 版本迭代；依托校园社团与同学实测持续收集反馈，快速修复优化。</a:t>
            </a:r>
            <a:endParaRPr sz="1300" b="0">
              <a:solidFill>
                <a:srgbClr val="40404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pitchFamily="34" charset="-122"/>
              </a:rPr>
              <a:t>商业潜力</a:t>
            </a:r>
            <a:endParaRPr sz="1500" b="1">
              <a:solidFill>
                <a:srgbClr val="1F4E79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pitchFamily="34" charset="-122"/>
              </a:rPr>
              <a:t>课表是校园场景的天然入口，可自然延展课程提醒、考试倒计时、GPA 计算等功能矩阵；纯本地零权限架构建立信任壁垒，后续可平滑拓展云同步等增值服务。</a:t>
            </a:r>
            <a:endParaRPr sz="1300" b="0">
              <a:solidFill>
                <a:srgbClr val="404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6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月度应用之星申报</a:t>
            </a:r>
            <a:endParaRPr lang="zh-CN" altLang="en-US" dirty="0"/>
          </a:p>
        </p:txBody>
      </p:sp>
      <p:sp>
        <p:nvSpPr>
          <p:cNvPr id="37" name="文本框 3"/>
          <p:cNvSpPr txBox="1"/>
          <p:nvPr/>
        </p:nvSpPr>
        <p:spPr>
          <a:xfrm>
            <a:off x="600634" y="1109012"/>
            <a:ext cx="8979784" cy="475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3504" y="13258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pitchFamily="34" charset="-122"/>
              </a:rPr>
              <a:t>申报人：孙涵韬（「杉课」唯一开发者，独立完成全部工作）</a:t>
            </a:r>
            <a:endParaRPr sz="1500" b="1">
              <a:solidFill>
                <a:srgbClr val="1F4E79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pitchFamily="34" charset="-122"/>
              </a:rPr>
              <a:t>• 产品与研发：独立完成需求定义、ArkTS 全部代码开发，包括离线 OCR 课表解析引擎、自研 xlsx 解析器（零第三方依赖）、本地数据库设计与 PC 原生界面交互。</a:t>
            </a:r>
            <a:endParaRPr sz="1300" b="0">
              <a:solidFill>
                <a:srgbClr val="40404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pitchFamily="34" charset="-122"/>
              </a:rPr>
              <a:t>• 上架与合规：完成应用图标设计、隐私政策撰写与云服务器部署、AGC 提审材料制作，应用已通过华为应用市场审核正式上架。</a:t>
            </a:r>
            <a:endParaRPr sz="1300" b="0">
              <a:solidFill>
                <a:srgbClr val="40404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pitchFamily="34" charset="-122"/>
              </a:rPr>
              <a:t>• 迭代维护：根据审核反馈完成 1.0.2 修复版本，修复课程编辑刷新问题并优化首次启动体验，持续负责后续版本迭代。</a:t>
            </a:r>
            <a:endParaRPr sz="1300" b="0">
              <a:solidFill>
                <a:srgbClr val="404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8"/>
          <p:cNvSpPr txBox="1"/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armonyOS Sans" panose="00000800000000000000" charset="0"/>
              </a:rPr>
              <a:t>谢  谢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armonyOS Sans" panose="00000800000000000000" charset="0"/>
            </a:endParaRPr>
          </a:p>
        </p:txBody>
      </p:sp>
      <p:sp>
        <p:nvSpPr>
          <p:cNvPr id="4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1509</Words>
  <Application>WPS 演示</Application>
  <PresentationFormat/>
  <Paragraphs>100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8" baseType="lpstr">
      <vt:lpstr>Arial</vt:lpstr>
      <vt:lpstr>宋体</vt:lpstr>
      <vt:lpstr>Wingdings</vt:lpstr>
      <vt:lpstr>Source Han Sans CN Normal</vt:lpstr>
      <vt:lpstr>微软雅黑</vt:lpstr>
      <vt:lpstr>Source Han Sans CN Bold</vt:lpstr>
      <vt:lpstr>Source Han Sans CN Regular</vt:lpstr>
      <vt:lpstr>Arial</vt:lpstr>
      <vt:lpstr>Microsoft YaHei Regular</vt:lpstr>
      <vt:lpstr>HarmonyOS Sans</vt:lpstr>
      <vt:lpstr>Segoe Print</vt:lpstr>
      <vt:lpstr>Arial Unicode MS</vt:lpstr>
      <vt:lpstr>KSOFBCC610B3</vt:lpstr>
      <vt:lpstr>等线</vt:lpstr>
      <vt:lpstr>Calibri</vt:lpstr>
      <vt:lpstr>Microsoft YaHei Regular</vt:lpstr>
      <vt:lpstr>Source Han Sans CN Bold</vt:lpstr>
      <vt:lpstr>Source Han Sans CN Normal</vt:lpstr>
      <vt:lpstr>Source Han Sans CN Regular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坑神</cp:lastModifiedBy>
  <cp:revision>1</cp:revision>
  <dcterms:created xsi:type="dcterms:W3CDTF">2026-10-17T17:11:45Z</dcterms:created>
  <dcterms:modified xsi:type="dcterms:W3CDTF">2026-10-17T17:11:45Z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9F1F977BF0FC48FB836DB1D602E55567_12</vt:lpwstr>
  </property>
  <property fmtid="{D5CDD505-2E9C-101B-9397-08002B2CF9AE}" pid="3" name="KSOProductBuildVer">
    <vt:lpwstr>2052-12.1.0.29158</vt:lpwstr>
  </property>
</Properties>
</file>