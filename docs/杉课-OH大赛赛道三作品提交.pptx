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firstSlideNum="1" mc:Ignorable="p15">
  <p:sldMasterIdLst>
    <p:sldMasterId id="2147483648" r:id="rId0"/>
  </p:sldMasterIdLst>
  <p:notesMasterIdLst>
    <p:notesMasterId r:id="rId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zh-CN"/>
    </a:defPPr>
    <a:lvl1pPr marL="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351" userDrawn="true">
          <p15:clr>
            <a:srgbClr val="A4A3A4"/>
          </p15:clr>
        </p15:guide>
        <p15:guide id="2" pos="3840" userDrawn="true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p="http://schemas.openxmlformats.org/presentationml/2006/main">
  <p:showPr showNarration="true">
    <p:present/>
    <p:sldAll/>
    <p:penClr>
      <a:prstClr val="red"/>
    </p:penClr>
    <p:extLst>
      <p:ext uri="{EC167BDD-8182-4AB7-AECC-EB403E3ABB37}"/>
      <p:ext uri="{2FDB2607-1784-4EEB-B798-7EB5836EED8A}"/>
    </p:extLst>
  </p:showPr>
  <p:clrMru>
    <a:srgbClr val="08A8F6"/>
    <a:srgbClr val="0F7FF6"/>
    <a:srgbClr val="7BBC49"/>
    <a:srgbClr val="77BB69"/>
    <a:srgbClr val="329AD7"/>
    <a:srgbClr val="F7F9FC"/>
    <a:srgbClr val="9DC0E3"/>
    <a:srgbClr val="DFEAF6"/>
    <a:srgbClr val="E1E0E0"/>
    <a:srgbClr val="EEEEEE"/>
  </p:clrMru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6491" autoAdjust="false"/>
    <p:restoredTop sz="94607" autoAdjust="false"/>
  </p:normalViewPr>
  <p:slideViewPr>
    <p:cSldViewPr snapToGrid="false" showGuides="true">
      <p:cViewPr varScale="true">
        <p:scale>
          <a:sx n="62" d="100"/>
          <a:sy n="62" d="100"/>
        </p:scale>
        <p:origin x="431" y="28"/>
      </p:cViewPr>
      <p:guideLst>
        <p:guide orient="horz" pos="235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tableStyles" Target="tableStyles.xml"/><Relationship Id="rId1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l">
              <a:defRPr sz="1200"/>
            </a:lvl1pPr>
          </a:lstStyle>
          <a:p>
            <a:pPr/>
            <a:endParaRPr lang="zh-CN" altLang="en-US"/>
          </a:p>
        </p:txBody>
      </p:sp>
      <p:sp>
        <p:nvSpPr>
          <p:cNvPr id="3" name="日期占位符 2"/>
          <p:cNvSpPr>
            <a:spLocks noGrp="true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r">
              <a:defRPr sz="1200"/>
            </a:lvl1pPr>
          </a:lstStyle>
          <a:p>
            <a:pPr/>
            <a:fld id="{99CE6E62-0A4A-440F-A3A0-1904151E0F67}" type="datetimeFigureOut">
              <a:rPr lang="zh-CN" altLang="en-US" smtClean="false"/>
              <a:t>2026/8/19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true" noRot="true" noChangeAspect="true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false" anchor="ctr"/>
          <a:lstStyle/>
          <a:p>
            <a:pPr/>
            <a:endParaRPr lang="zh-CN" altLang="en-US"/>
          </a:p>
        </p:txBody>
      </p:sp>
      <p:sp>
        <p:nvSpPr>
          <p:cNvPr id="5" name="备注占位符 4"/>
          <p:cNvSpPr>
            <a:spLocks noGrp="true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false"/>
          <a:lstStyle/>
          <a:p>
            <a:pPr lvl="0"/>
            <a:r>
              <a:rPr lang="zh-CN" altLang="en-US"/>
              <a:t>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l">
              <a:defRPr sz="1200"/>
            </a:lvl1pPr>
          </a:lstStyle>
          <a:p>
            <a:pPr/>
            <a:endParaRPr lang="zh-CN" altLang="en-US"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r">
              <a:defRPr sz="1200"/>
            </a:lvl1pPr>
          </a:lstStyle>
          <a:p>
            <a:pPr/>
            <a:fld id="{F45C4DF4-6413-405D-8311-20A510DC5EFC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0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备注占位符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kumimoji="true" lang="zh-CN" altLang="en-US"/>
          </a:p>
        </p:txBody>
      </p:sp>
      <p:sp>
        <p:nvSpPr>
          <p:cNvPr id="4" name="灯片编号占位符 3"/>
          <p:cNvSpPr>
            <a:spLocks noGrp="true"/>
          </p:cNvSpPr>
          <p:nvPr>
            <p:ph type="sldNum" sz="quarter" idx="5"/>
          </p:nvPr>
        </p:nvSpPr>
        <p:spPr/>
        <p:txBody>
          <a:bodyPr/>
          <a:lstStyle/>
          <a:p>
            <a:pPr/>
            <a:fld id="{F45C4DF4-6413-405D-8311-20A510DC5EFC}" type="slidenum">
              <a:rPr lang="zh-CN" altLang="en-US" smtClean="false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Relationship Id="rId1" Type="http://schemas.openxmlformats.org/officeDocument/2006/relationships/image" Target="media/image1.png"/></Relationships>
</file>

<file path=ppt/slideLayouts/_rels/slideLayout2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Relationship Id="rId1" Type="http://schemas.openxmlformats.org/officeDocument/2006/relationships/image" Target="media/image2.png"/><Relationship Id="rId2" Type="http://schemas.openxmlformats.org/officeDocument/2006/relationships/image" Target="media/image3.png"/><Relationship Id="rId3" Type="http://schemas.openxmlformats.org/officeDocument/2006/relationships/image" Target="media/image4.png"/></Relationships>
</file>

<file path=ppt/slideLayouts/_rels/slideLayout3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Relationship Id="rId1" Type="http://schemas.openxmlformats.org/officeDocument/2006/relationships/image" Target="media/image5.png"/></Relationships>
</file>

<file path=ppt/slideLayouts/_rels/slideLayout6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Relationship Id="rId1" Type="http://schemas.openxmlformats.org/officeDocument/2006/relationships/image" Target="media/image6.png"/><Relationship Id="rId2" Type="http://schemas.openxmlformats.org/officeDocument/2006/relationships/image" Target="media/image5.png"/></Relationships>
</file>

<file path=ppt/slideLayouts/_rels/slideLayout7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>‹#›</a:t>
            </a:fld>
            <a:endParaRPr lang="zh-CN" altLang="en-US"/>
          </a:p>
        </p:txBody>
      </p:sp>
      <p:pic>
        <p:nvPicPr>
          <p:cNvPr id="3" name="图片 7" descr="基金会+OH logo组合-03"/>
          <p:cNvPicPr>
            <a:picLocks noChangeAspect="true"/>
          </p:cNvPicPr>
          <p:nvPr userDrawn="true"/>
        </p:nvPicPr>
        <p:blipFill>
          <a:blip r:embed="rId1"/>
          <a:stretch>
            <a:fillRect/>
          </a:stretch>
        </p:blipFill>
        <p:spPr>
          <a:xfrm>
            <a:off x="473710" y="304165"/>
            <a:ext cx="3564890" cy="1234440"/>
          </a:xfrm>
          <a:prstGeom prst="rect">
            <a:avLst/>
          </a:prstGeom>
        </p:spPr>
      </p:pic>
      <p:grpSp>
        <p:nvGrpSpPr>
          <p:cNvPr id="4" name="组合 13"/>
          <p:cNvGrpSpPr/>
          <p:nvPr userDrawn="true"/>
        </p:nvGrpSpPr>
        <p:grpSpPr>
          <a:xfrm>
            <a:off x="9906635" y="6367145"/>
            <a:ext cx="2199640" cy="344805"/>
            <a:chOff x="15601" y="10027"/>
            <a:chExt cx="3464" cy="543"/>
          </a:xfrm>
        </p:grpSpPr>
        <p:sp>
          <p:nvSpPr>
            <p:cNvPr id="5" name="文本框 14"/>
            <p:cNvSpPr txBox="true"/>
            <p:nvPr userDrawn="true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false">
              <a:spAutoFit/>
            </a:bodyPr>
            <a:lstStyle/>
            <a:p>
              <a:pPr marL="0" algn="l" defTabSz="914400" rtl="false" eaLnBrk="true" latinLnBrk="false" hangingPunct="true">
                <a:lnSpc>
                  <a:spcPct val="130000"/>
                </a:lnSpc>
              </a:pPr>
              <a:r>
                <a:rPr lang="zh-CN" altLang="en-US" sz="1400" kern="1200" dirty="false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/>
            </a:p>
          </p:txBody>
        </p:sp>
        <p:cxnSp>
          <p:nvCxnSpPr>
            <p:cNvPr id="6" name="直接连接符 15"/>
            <p:cNvCxnSpPr/>
            <p:nvPr userDrawn="true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>
  <p:cSld name="FM">
    <p:bg>
      <p:bgPr>
        <a:solidFill>
          <a:schemeClr val="bg1"/>
        </a:solidFill>
        <a:effectLst/>
      </p:bgPr>
    </p:bg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1"/>
          <p:cNvPicPr>
            <a:picLocks noChangeAspect="true"/>
          </p:cNvPicPr>
          <p:nvPr userDrawn="true"/>
        </p:nvPicPr>
        <p:blipFill rotWithShape="true">
          <a:blip r:embed="rId1" cstate="print">
            <a:alphaModFix amt="20000"/>
            <a:extLst>
              <a:ext uri="{28A0092B-C50C-407E-A947-70E740481C1C}"/>
            </a:extLst>
          </a:blip>
          <a:srcRect b="13216"/>
          <a:stretch/>
        </p:blipFill>
        <p:spPr>
          <a:xfrm>
            <a:off x="7546126" y="0"/>
            <a:ext cx="4151671" cy="5794408"/>
          </a:xfrm>
          <a:prstGeom prst="rect">
            <a:avLst/>
          </a:prstGeom>
        </p:spPr>
      </p:pic>
      <p:grpSp>
        <p:nvGrpSpPr>
          <p:cNvPr id="9" name="组合 2"/>
          <p:cNvGrpSpPr/>
          <p:nvPr userDrawn="true"/>
        </p:nvGrpSpPr>
        <p:grpSpPr>
          <a:xfrm>
            <a:off x="9763201" y="6305810"/>
            <a:ext cx="2199640" cy="344805"/>
            <a:chOff x="15601" y="10027"/>
            <a:chExt cx="3464" cy="543"/>
          </a:xfrm>
        </p:grpSpPr>
        <p:sp>
          <p:nvSpPr>
            <p:cNvPr id="10" name="文本框 3"/>
            <p:cNvSpPr txBox="true"/>
            <p:nvPr userDrawn="true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false">
              <a:spAutoFit/>
            </a:bodyPr>
            <a:lstStyle/>
            <a:p>
              <a:pPr marL="0" algn="l" defTabSz="914400" rtl="false" eaLnBrk="true" latinLnBrk="false" hangingPunct="true">
                <a:lnSpc>
                  <a:spcPct val="130000"/>
                </a:lnSpc>
              </a:pPr>
              <a:r>
                <a:rPr lang="zh-CN" altLang="en-US" sz="1400" kern="1200" dirty="false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false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/>
            </a:p>
          </p:txBody>
        </p:sp>
        <p:cxnSp>
          <p:nvCxnSpPr>
            <p:cNvPr id="11" name="直接连接符 15"/>
            <p:cNvCxnSpPr/>
            <p:nvPr userDrawn="true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12" name="图片 9"/>
          <p:cNvPicPr>
            <a:picLocks noChangeAspect="true"/>
          </p:cNvPicPr>
          <p:nvPr userDrawn="true"/>
        </p:nvPicPr>
        <p:blipFill>
          <a:blip r:embed="rId2" cstate="print">
            <a:alphaModFix amt="21000"/>
            <a:extLst>
              <a:ext uri="{28A0092B-C50C-407E-A947-70E740481C1C}"/>
            </a:extLst>
          </a:blip>
          <a:srcRect/>
          <a:stretch/>
        </p:blipFill>
        <p:spPr>
          <a:xfrm>
            <a:off x="0" y="3261146"/>
            <a:ext cx="2999678" cy="4133416"/>
          </a:xfrm>
          <a:prstGeom prst="rect">
            <a:avLst/>
          </a:prstGeom>
        </p:spPr>
      </p:pic>
      <p:pic>
        <p:nvPicPr>
          <p:cNvPr id="13" name="图片 4"/>
          <p:cNvPicPr>
            <a:picLocks noChangeAspect="true"/>
          </p:cNvPicPr>
          <p:nvPr userDrawn="true"/>
        </p:nvPicPr>
        <p:blipFill>
          <a:blip r:embed="rId3" cstate="print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48273" y="0"/>
            <a:ext cx="3483086" cy="13061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showMasterSp="false" type="title">
  <p:cSld name="1_标题幻灯片">
    <p:bg>
      <p:bgPr>
        <a:solidFill>
          <a:schemeClr val="bg1">
            <a:alpha val="0"/>
          </a:schemeClr>
        </a:solidFill>
        <a:effectLst/>
      </p:bgPr>
    </p:bg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5"/>
          <p:cNvSpPr>
            <a:spLocks noGrp="true"/>
          </p:cNvSpPr>
          <p:nvPr>
            <p:ph type="sldNum" sz="quarter" idx="12"/>
          </p:nvPr>
        </p:nvSpPr>
        <p:spPr>
          <a:xfrm>
            <a:off x="445008" y="6356350"/>
            <a:ext cx="274320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pPr/>
            <a:fld id="{49AE70B2-8BF9-45C0-BB95-33D1B9D3A854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obj">
  <p:cSld name="标题和内容">
    <p:bg>
      <p:bgPr>
        <a:solidFill>
          <a:srgbClr val="08A8F6"/>
        </a:solidFill>
        <a:effectLst/>
      </p:bgPr>
    </p:bg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5"/>
          <p:cNvSpPr>
            <a:spLocks noGrp="true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/>
          <a:p>
            <a:pPr/>
            <a:fld id="{49AE70B2-8BF9-45C0-BB95-33D1B9D3A854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>
  <p:cSld name="节标题">
    <p:bg>
      <p:bgPr>
        <a:solidFill>
          <a:schemeClr val="bg1"/>
        </a:solidFill>
        <a:effectLst/>
      </p:bgPr>
    </p:bg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13"/>
          <p:cNvGrpSpPr/>
          <p:nvPr userDrawn="true"/>
        </p:nvGrpSpPr>
        <p:grpSpPr>
          <a:xfrm>
            <a:off x="9763201" y="6305810"/>
            <a:ext cx="2199640" cy="344805"/>
            <a:chOff x="15601" y="10027"/>
            <a:chExt cx="3464" cy="543"/>
          </a:xfrm>
        </p:grpSpPr>
        <p:sp>
          <p:nvSpPr>
            <p:cNvPr id="25" name="文本框 14"/>
            <p:cNvSpPr txBox="true"/>
            <p:nvPr userDrawn="true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false">
              <a:spAutoFit/>
            </a:bodyPr>
            <a:lstStyle/>
            <a:p>
              <a:pPr marL="0" algn="l" defTabSz="914400" rtl="false" eaLnBrk="true" latinLnBrk="false" hangingPunct="true">
                <a:lnSpc>
                  <a:spcPct val="130000"/>
                </a:lnSpc>
              </a:pPr>
              <a:r>
                <a:rPr lang="zh-CN" altLang="en-US" sz="1400" kern="1200" dirty="false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false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/>
            </a:p>
          </p:txBody>
        </p:sp>
        <p:cxnSp>
          <p:nvCxnSpPr>
            <p:cNvPr id="26" name="直接连接符 15"/>
            <p:cNvCxnSpPr/>
            <p:nvPr userDrawn="true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7" name="灯片编号占位符 5"/>
          <p:cNvSpPr>
            <a:spLocks noGrp="true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/>
            <a:fld id="{49AE70B2-8BF9-45C0-BB95-33D1B9D3A854}" type="slidenum">
              <a:rPr lang="zh-CN" altLang="en-US" smtClean="false"/>
              <a:t>‹#›</a:t>
            </a:fld>
            <a:endParaRPr lang="zh-CN" altLang="en-US"/>
          </a:p>
        </p:txBody>
      </p:sp>
      <p:sp>
        <p:nvSpPr>
          <p:cNvPr id="28" name="文本占位符 9"/>
          <p:cNvSpPr>
            <a:spLocks noGrp="true"/>
          </p:cNvSpPr>
          <p:nvPr>
            <p:ph type="body" sz="quarter" idx="13"/>
          </p:nvPr>
        </p:nvSpPr>
        <p:spPr>
          <a:xfrm>
            <a:off x="215067" y="171415"/>
            <a:ext cx="5966068" cy="4461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CN" altLang="en-US" sz="2800" b="true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r>
              <a:rPr kumimoji="true" lang="zh-CN" altLang="en-US"/>
              <a:t>单击此处编辑母版文本</a:t>
            </a:r>
            <a:endParaRPr/>
          </a:p>
        </p:txBody>
      </p:sp>
      <p:pic>
        <p:nvPicPr>
          <p:cNvPr id="29" name="图片 1"/>
          <p:cNvPicPr>
            <a:picLocks noChangeAspect="true"/>
          </p:cNvPicPr>
          <p:nvPr userDrawn="true"/>
        </p:nvPicPr>
        <p:blipFill>
          <a:blip r:embed="rId1" cstate="print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9558425" y="0"/>
            <a:ext cx="2350420" cy="881407"/>
          </a:xfrm>
          <a:prstGeom prst="rect">
            <a:avLst/>
          </a:prstGeom>
        </p:spPr>
      </p:pic>
      <p:sp>
        <p:nvSpPr>
          <p:cNvPr id="30" name="矩形 3"/>
          <p:cNvSpPr/>
          <p:nvPr userDrawn="true"/>
        </p:nvSpPr>
        <p:spPr>
          <a:xfrm>
            <a:off x="0" y="0"/>
            <a:ext cx="12192000" cy="781177"/>
          </a:xfrm>
          <a:prstGeom prst="rect">
            <a:avLst/>
          </a:prstGeom>
          <a:solidFill>
            <a:srgbClr val="08A8F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 kumimoji="true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>
  <p:cSld name="两栏内容">
    <p:bg>
      <p:bgPr>
        <a:solidFill>
          <a:schemeClr val="bg1"/>
        </a:solidFill>
        <a:effectLst/>
      </p:bgPr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/>
            <a:fld id="{49AE70B2-8BF9-45C0-BB95-33D1B9D3A854}" type="slidenum">
              <a:rPr lang="zh-CN" altLang="en-US" smtClean="false"/>
              <a:t>‹#›</a:t>
            </a:fld>
            <a:endParaRPr lang="zh-CN" altLang="en-US"/>
          </a:p>
        </p:txBody>
      </p:sp>
      <p:pic>
        <p:nvPicPr>
          <p:cNvPr id="33" name="图片 3"/>
          <p:cNvPicPr>
            <a:picLocks noChangeAspect="true"/>
          </p:cNvPicPr>
          <p:nvPr userDrawn="true"/>
        </p:nvPicPr>
        <p:blipFill rotWithShape="true">
          <a:blip r:embed="rId1" cstate="print">
            <a:alphaModFix amt="35000"/>
            <a:biLevel thresh="25000"/>
            <a:extLst>
              <a:ext uri="{28A0092B-C50C-407E-A947-70E740481C1C}"/>
            </a:extLst>
          </a:blip>
          <a:srcRect t="32381"/>
          <a:stretch/>
        </p:blipFill>
        <p:spPr>
          <a:xfrm>
            <a:off x="7482780" y="1381934"/>
            <a:ext cx="3830533" cy="4165580"/>
          </a:xfrm>
          <a:prstGeom prst="rect">
            <a:avLst/>
          </a:prstGeom>
        </p:spPr>
      </p:pic>
      <p:grpSp>
        <p:nvGrpSpPr>
          <p:cNvPr id="34" name="组合 5"/>
          <p:cNvGrpSpPr/>
          <p:nvPr userDrawn="true"/>
        </p:nvGrpSpPr>
        <p:grpSpPr>
          <a:xfrm>
            <a:off x="9763201" y="6305810"/>
            <a:ext cx="2199640" cy="344805"/>
            <a:chOff x="15601" y="10027"/>
            <a:chExt cx="3464" cy="543"/>
          </a:xfrm>
        </p:grpSpPr>
        <p:sp>
          <p:nvSpPr>
            <p:cNvPr id="35" name="文本框 10"/>
            <p:cNvSpPr txBox="true"/>
            <p:nvPr userDrawn="true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false">
              <a:spAutoFit/>
            </a:bodyPr>
            <a:lstStyle/>
            <a:p>
              <a:pPr marL="0" algn="l" defTabSz="914400" rtl="false" eaLnBrk="true" latinLnBrk="false" hangingPunct="true">
                <a:lnSpc>
                  <a:spcPct val="130000"/>
                </a:lnSpc>
              </a:pPr>
              <a:r>
                <a:rPr lang="zh-CN" altLang="en-US" sz="1400" kern="1200" dirty="false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false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/>
            </a:p>
          </p:txBody>
        </p:sp>
        <p:cxnSp>
          <p:nvCxnSpPr>
            <p:cNvPr id="36" name="直接连接符 15"/>
            <p:cNvCxnSpPr/>
            <p:nvPr userDrawn="true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37" name="图片 4"/>
          <p:cNvPicPr>
            <a:picLocks noChangeAspect="true"/>
          </p:cNvPicPr>
          <p:nvPr userDrawn="true"/>
        </p:nvPicPr>
        <p:blipFill>
          <a:blip r:embed="rId2" cstate="print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04478" y="0"/>
            <a:ext cx="2350420" cy="8814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twoTxTwoObj">
  <p:cSld name="比较">
    <p:bg>
      <p:bgPr>
        <a:solidFill>
          <a:schemeClr val="bg1"/>
        </a:solidFill>
        <a:effectLst/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灯片编号占位符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/>
            <a:fld id="{49AE70B2-8BF9-45C0-BB95-33D1B9D3A854}" type="slidenum">
              <a:rPr lang="zh-CN" altLang="en-US" smtClean="false"/>
              <a:t>‹#›</a:t>
            </a:fld>
            <a:endParaRPr lang="zh-CN" altLang="en-US"/>
          </a:p>
        </p:txBody>
      </p:sp>
      <p:grpSp>
        <p:nvGrpSpPr>
          <p:cNvPr id="40" name="组合 1"/>
          <p:cNvGrpSpPr/>
          <p:nvPr userDrawn="true"/>
        </p:nvGrpSpPr>
        <p:grpSpPr>
          <a:xfrm>
            <a:off x="9763201" y="6305810"/>
            <a:ext cx="2199640" cy="344805"/>
            <a:chOff x="15601" y="10027"/>
            <a:chExt cx="3464" cy="543"/>
          </a:xfrm>
        </p:grpSpPr>
        <p:sp>
          <p:nvSpPr>
            <p:cNvPr id="41" name="文本框 2"/>
            <p:cNvSpPr txBox="true"/>
            <p:nvPr userDrawn="true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false">
              <a:spAutoFit/>
            </a:bodyPr>
            <a:lstStyle/>
            <a:p>
              <a:pPr marL="0" algn="l" defTabSz="914400" rtl="false" eaLnBrk="true" latinLnBrk="false" hangingPunct="true">
                <a:lnSpc>
                  <a:spcPct val="130000"/>
                </a:lnSpc>
              </a:pPr>
              <a:r>
                <a:rPr lang="zh-CN" altLang="en-US" sz="1400" kern="1200" dirty="false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false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/>
            </a:p>
          </p:txBody>
        </p:sp>
        <p:cxnSp>
          <p:nvCxnSpPr>
            <p:cNvPr id="42" name="直接连接符 15"/>
            <p:cNvCxnSpPr/>
            <p:nvPr userDrawn="true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43" name="矩形 9"/>
          <p:cNvSpPr/>
          <p:nvPr userDrawn="true"/>
        </p:nvSpPr>
        <p:spPr>
          <a:xfrm>
            <a:off x="456565" y="1199515"/>
            <a:ext cx="1210588" cy="707886"/>
          </a:xfrm>
          <a:prstGeom prst="rect">
            <a:avLst/>
          </a:prstGeom>
        </p:spPr>
        <p:txBody>
          <a:bodyPr wrap="none" anchor="ctr" anchorCtr="false">
            <a:spAutoFit/>
          </a:bodyPr>
          <a:lstStyle/>
          <a:p>
            <a:pPr marL="0" marR="0" lvl="0" indent="0" defTabSz="914400" rtl="false" eaLnBrk="true" fontAlgn="ctr" latinLnBrk="fal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false" lang="zh-CN" altLang="en-US" sz="4000" b="true" i="false" u="none" strike="noStrike" kern="1200" cap="none" spc="0" normalizeH="false" baseline="0" noProof="false" dirty="false">
                <a:ln>
                  <a:noFill/>
                </a:ln>
                <a:solidFill>
                  <a:srgbClr val="08A8F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目录</a:t>
            </a:r>
            <a:endParaRPr/>
          </a:p>
        </p:txBody>
      </p:sp>
      <p:sp>
        <p:nvSpPr>
          <p:cNvPr id="44" name="文本框 10"/>
          <p:cNvSpPr txBox="true"/>
          <p:nvPr userDrawn="true"/>
        </p:nvSpPr>
        <p:spPr>
          <a:xfrm>
            <a:off x="481965" y="576640"/>
            <a:ext cx="4124959" cy="584775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fontAlgn="base">
              <a:spcBef>
                <a:spcPct val="1"/>
              </a:spcBef>
              <a:spcAft>
                <a:spcPct val="1"/>
              </a:spcAft>
              <a:defRPr/>
            </a:pPr>
            <a:r>
              <a:rPr lang="en-US" altLang="zh-CN" sz="3200" b="true" dirty="false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CONTENTS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titleOnly">
  <p:cSld name="仅标题">
    <p:bg>
      <p:bgPr>
        <a:solidFill>
          <a:schemeClr val="bg1"/>
        </a:solidFill>
        <a:effectLst/>
      </p:bgPr>
    </p:bg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/>
            <a:fld id="{49AE70B2-8BF9-45C0-BB95-33D1B9D3A854}" type="slidenum">
              <a:rPr lang="zh-CN" altLang="en-US" smtClean="false"/>
              <a:t>‹#›</a:t>
            </a:fld>
            <a:endParaRPr lang="zh-CN" altLang="en-US"/>
          </a:p>
        </p:txBody>
      </p:sp>
      <p:grpSp>
        <p:nvGrpSpPr>
          <p:cNvPr id="47" name="组合 5"/>
          <p:cNvGrpSpPr/>
          <p:nvPr userDrawn="true"/>
        </p:nvGrpSpPr>
        <p:grpSpPr>
          <a:xfrm>
            <a:off x="9906635" y="6367145"/>
            <a:ext cx="2199640" cy="344805"/>
            <a:chOff x="15601" y="10027"/>
            <a:chExt cx="3464" cy="543"/>
          </a:xfrm>
        </p:grpSpPr>
        <p:sp>
          <p:nvSpPr>
            <p:cNvPr id="48" name="文本框 6"/>
            <p:cNvSpPr txBox="true"/>
            <p:nvPr userDrawn="true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false">
              <a:spAutoFit/>
            </a:bodyPr>
            <a:lstStyle/>
            <a:p>
              <a:pPr marL="0" algn="l" defTabSz="914400" rtl="false" eaLnBrk="true" latinLnBrk="false" hangingPunct="true">
                <a:lnSpc>
                  <a:spcPct val="130000"/>
                </a:lnSpc>
              </a:pPr>
              <a:r>
                <a:rPr lang="zh-CN" altLang="en-US" sz="1400" kern="1200" dirty="false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false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/>
            </a:p>
          </p:txBody>
        </p:sp>
        <p:cxnSp>
          <p:nvCxnSpPr>
            <p:cNvPr id="49" name="直接连接符 7"/>
            <p:cNvCxnSpPr/>
            <p:nvPr userDrawn="true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blank">
  <p:cSld name="空白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picTx">
  <p:cSld name="图片与标题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FABC47A4-756D-490B-A52F-7D9E2C9FC05F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竖排标题与文本"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>
  <p:cSld name="内容"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>
  <p:cSld name="Title"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gradFill>
          <a:gsLst>
            <a:gs pos="0">
              <a:srgbClr val="00A6F9"/>
            </a:gs>
            <a:gs pos="100000">
              <a:srgbClr val="81BD0A"/>
            </a:gs>
          </a:gsLst>
          <a:lin ang="0" scaled="false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true"/>
          </p:cNvSpPr>
          <p:nvPr>
            <p:ph type="sldNum" sz="quarter" idx="4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Source Han Sans CN Normal" panose="020B0800000000000000" charset="-122"/>
                <a:ea typeface="Source Han Sans CN Normal" panose="020B0800000000000000" charset="-122"/>
              </a:defRPr>
            </a:lvl1pPr>
          </a:lstStyle>
          <a:p>
            <a:pPr/>
            <a:fld id="{49AE70B2-8BF9-45C0-BB95-33D1B9D3A854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hdr="false" ftr="false" dt="false"/>
  <p:txStyles>
    <p:titleStyle>
      <a:lvl1pPr algn="l" defTabSz="914400" rtl="false" eaLnBrk="true" latinLnBrk="false" hangingPunct="true">
        <a:lnSpc>
          <a:spcPct val="90000"/>
        </a:lnSpc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false" eaLnBrk="true" latinLnBrk="false" hangingPunct="true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4.xml"/><Relationship Id="rId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/>
          <p:cNvSpPr txBox="true"/>
          <p:nvPr/>
        </p:nvSpPr>
        <p:spPr>
          <a:xfrm>
            <a:off x="3417888" y="5226665"/>
            <a:ext cx="5356225" cy="701346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algn="ctr"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赛队名：杉课</a:t>
            </a:r>
            <a:endParaRPr lang="en-US" altLang="zh-CN" sz="1600" dirty="false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algn="ctr"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en-US" altLang="zh-CN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2026 年 10 月</a:t>
            </a:r>
            <a:r>
              <a:rPr lang="zh-CN" altLang="en-US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/>
            </a:r>
            <a:endParaRPr lang="zh-CN" altLang="en-US" sz="1400" dirty="false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3" name="文本框 6"/>
          <p:cNvSpPr txBox="true"/>
          <p:nvPr/>
        </p:nvSpPr>
        <p:spPr>
          <a:xfrm>
            <a:off x="1908747" y="1852426"/>
            <a:ext cx="8374507" cy="830997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algn="ctr" fontAlgn="base">
              <a:spcBef>
                <a:spcPct val="1"/>
              </a:spcBef>
              <a:spcAft>
                <a:spcPct val="1"/>
              </a:spcAft>
              <a:defRPr/>
            </a:pPr>
            <a:r>
              <a:rPr lang="en-US" altLang="zh-CN" sz="4800" b="true" dirty="false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OH</a:t>
            </a:r>
            <a:r>
              <a:rPr lang="zh-CN" altLang="en-US" sz="4800" b="true" dirty="false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创新大赛赛道三作品提交</a:t>
            </a:r>
            <a:endParaRPr lang="en-US" altLang="zh-CN" sz="4800" b="true" dirty="false">
              <a:solidFill>
                <a:srgbClr val="08A8F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 Bold" panose="020B0800000000000000" charset="-122"/>
            </a:endParaRPr>
          </a:p>
        </p:txBody>
      </p:sp>
      <p:sp>
        <p:nvSpPr>
          <p:cNvPr id="4" name="文本框 10"/>
          <p:cNvSpPr txBox="true"/>
          <p:nvPr/>
        </p:nvSpPr>
        <p:spPr>
          <a:xfrm>
            <a:off x="3232175" y="2868089"/>
            <a:ext cx="5727650" cy="523220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algn="ctr" fontAlgn="base">
              <a:spcBef>
                <a:spcPct val="1"/>
              </a:spcBef>
              <a:spcAft>
                <a:spcPct val="1"/>
              </a:spcAft>
              <a:defRPr/>
            </a:pPr>
            <a:r>
              <a:rPr lang="zh-CN" altLang="en-US" sz="2800" dirty="false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杉课</a:t>
            </a:r>
            <a:endParaRPr lang="en-US" altLang="zh-CN" sz="2800" dirty="false">
              <a:solidFill>
                <a:srgbClr val="08A8F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 Bold" panose="020B08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26"/>
          <p:cNvSpPr/>
          <p:nvPr/>
        </p:nvSpPr>
        <p:spPr>
          <a:xfrm>
            <a:off x="2741964" y="2138212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r>
              <a:rPr lang="en-US" altLang="zh-CN" sz="2400" b="true" dirty="fals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/>
          </a:p>
        </p:txBody>
      </p:sp>
      <p:sp>
        <p:nvSpPr>
          <p:cNvPr id="7" name="圆角矩形 27"/>
          <p:cNvSpPr/>
          <p:nvPr/>
        </p:nvSpPr>
        <p:spPr>
          <a:xfrm>
            <a:off x="3585244" y="3076107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rtlCol="false" anchor="ctr" anchorCtr="false"/>
          <a:lstStyle/>
          <a:p>
            <a:pPr marL="0" marR="0" lvl="0" indent="0" algn="l" defTabSz="914400" rtl="false" eaLnBrk="true" fontAlgn="ctr" latinLnBrk="fal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true" dirty="fals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Regular" panose="020B0503020204020204" charset="-122"/>
                <a:sym typeface="+mn-ea"/>
              </a:rPr>
              <a:t>应用核心功能</a:t>
            </a:r>
            <a:endParaRPr lang="en-US" altLang="zh-CN" sz="2400" b="true" noProof="false" dirty="false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 Regular" panose="020B0503020204020204" charset="-122"/>
              <a:sym typeface="+mn-ea"/>
            </a:endParaRPr>
          </a:p>
        </p:txBody>
      </p:sp>
      <p:sp>
        <p:nvSpPr>
          <p:cNvPr id="8" name="圆角矩形 28"/>
          <p:cNvSpPr/>
          <p:nvPr/>
        </p:nvSpPr>
        <p:spPr>
          <a:xfrm>
            <a:off x="2734344" y="3063407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r>
              <a:rPr lang="en-US" altLang="zh-CN" sz="2400" b="true" dirty="fals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/>
          </a:p>
        </p:txBody>
      </p:sp>
      <p:sp>
        <p:nvSpPr>
          <p:cNvPr id="9" name="圆角矩形 29"/>
          <p:cNvSpPr/>
          <p:nvPr/>
        </p:nvSpPr>
        <p:spPr>
          <a:xfrm>
            <a:off x="3585244" y="4001302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rtlCol="false" anchor="ctr" anchorCtr="false"/>
          <a:lstStyle/>
          <a:p>
            <a:pPr marL="0" marR="0" lvl="0" indent="0" algn="l" defTabSz="914400" rtl="false" eaLnBrk="true" fontAlgn="ctr" latinLnBrk="fal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true" dirty="fals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Regular" panose="020B0503020204020204" charset="-122"/>
                <a:sym typeface="+mn-ea"/>
              </a:rPr>
              <a:t>创新性</a:t>
            </a:r>
            <a:endParaRPr lang="en-US" altLang="zh-CN" sz="2400" b="true" noProof="false" dirty="false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 Regular" panose="020B0503020204020204" charset="-122"/>
              <a:sym typeface="+mn-ea"/>
            </a:endParaRPr>
          </a:p>
        </p:txBody>
      </p:sp>
      <p:sp>
        <p:nvSpPr>
          <p:cNvPr id="10" name="圆角矩形 30"/>
          <p:cNvSpPr/>
          <p:nvPr/>
        </p:nvSpPr>
        <p:spPr>
          <a:xfrm>
            <a:off x="2734344" y="3988602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r>
              <a:rPr lang="en-US" altLang="zh-CN" sz="2400" b="true" dirty="fals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/>
          </a:p>
        </p:txBody>
      </p:sp>
      <p:sp>
        <p:nvSpPr>
          <p:cNvPr id="11" name="圆角矩形 44"/>
          <p:cNvSpPr/>
          <p:nvPr/>
        </p:nvSpPr>
        <p:spPr>
          <a:xfrm>
            <a:off x="3597944" y="2138212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rtlCol="false" anchor="ctr" anchorCtr="false"/>
          <a:lstStyle/>
          <a:p>
            <a:pPr marL="0" marR="0" lvl="0" indent="0" algn="l" defTabSz="914400" rtl="false" eaLnBrk="true" fontAlgn="ctr" latinLnBrk="fal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true" dirty="fals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Regular" panose="020B0503020204020204" charset="-122"/>
                <a:sym typeface="+mn-ea"/>
              </a:rPr>
              <a:t>创作简介</a:t>
            </a:r>
            <a:endParaRPr lang="en-US" altLang="zh-CN" sz="2400" b="true" dirty="false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Regular" panose="020B0503020204020204" charset="-122"/>
              <a:sym typeface="+mn-ea"/>
            </a:endParaRPr>
          </a:p>
        </p:txBody>
      </p:sp>
      <p:sp>
        <p:nvSpPr>
          <p:cNvPr id="12" name="灯片编号占位符 2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>2</a:t>
            </a:fld>
            <a:endParaRPr lang="zh-CN" altLang="en-US"/>
          </a:p>
        </p:txBody>
      </p:sp>
      <p:sp>
        <p:nvSpPr>
          <p:cNvPr id="13" name="圆角矩形 29"/>
          <p:cNvSpPr/>
          <p:nvPr/>
        </p:nvSpPr>
        <p:spPr>
          <a:xfrm>
            <a:off x="3597944" y="4913797"/>
            <a:ext cx="6855091" cy="71374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rtlCol="false" anchor="ctr" anchorCtr="false"/>
          <a:lstStyle/>
          <a:p>
            <a:pPr marL="0" marR="0" lvl="0" indent="0" algn="l" defTabSz="914400" rtl="false" eaLnBrk="true" fontAlgn="ctr" latinLnBrk="fal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true" noProof="false" dirty="false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 Regular" panose="020B0503020204020204" charset="-122"/>
                <a:sym typeface="+mn-ea"/>
              </a:rPr>
              <a:t>商业价值</a:t>
            </a:r>
            <a:endParaRPr lang="en-US" altLang="zh-CN" sz="2400" b="true" noProof="false" dirty="false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 Regular" panose="020B0503020204020204" charset="-122"/>
              <a:sym typeface="+mn-ea"/>
            </a:endParaRPr>
          </a:p>
        </p:txBody>
      </p:sp>
      <p:sp>
        <p:nvSpPr>
          <p:cNvPr id="14" name="圆角矩形 30"/>
          <p:cNvSpPr/>
          <p:nvPr/>
        </p:nvSpPr>
        <p:spPr>
          <a:xfrm>
            <a:off x="2747044" y="4901097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r>
              <a:rPr lang="en-US" altLang="zh-CN" sz="2400" b="true" dirty="false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1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占位符 2"/>
          <p:cNvSpPr>
            <a:spLocks noGrp="true"/>
          </p:cNvSpPr>
          <p:nvPr>
            <p:ph type="body" sz="quarter" idx="13"/>
          </p:nvPr>
        </p:nvSpPr>
        <p:spPr>
          <a:xfrm>
            <a:off x="195815" y="200290"/>
            <a:ext cx="5966068" cy="446134"/>
          </a:xfrm>
        </p:spPr>
        <p:txBody>
          <a:bodyPr anchor="ctr"/>
          <a:lstStyle/>
          <a:p>
            <a:pPr/>
            <a:r>
              <a:rPr kumimoji="true" lang="zh-CN" altLang="en-US" dirty="false"/>
              <a:t>创作简介</a:t>
            </a:r>
            <a:endParaRPr kumimoji="true" lang="zh-CN" altLang="en-US" sz="2800" dirty="false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4"/>
          <p:cNvSpPr txBox="true"/>
          <p:nvPr/>
        </p:nvSpPr>
        <p:spPr>
          <a:xfrm>
            <a:off x="681316" y="2986110"/>
            <a:ext cx="3012141" cy="381258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b="true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为什么做这款APP</a:t>
            </a:r>
            <a:r>
              <a:rPr lang="en-US" altLang="zh-CN" sz="1600" b="true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/>
            </a:r>
            <a:r>
              <a:rPr lang="zh-CN" altLang="en-US" sz="1600" b="true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/>
            </a:r>
            <a:r>
              <a:rPr lang="en-US" altLang="zh-CN" sz="1600" b="true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/>
            </a:r>
            <a:r>
              <a:rPr lang="zh-CN" altLang="en-US" sz="1600" b="true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/>
            </a:r>
            <a:endParaRPr lang="en-US" altLang="zh-CN" sz="1600" b="true" dirty="false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19" name="文本框 4"/>
          <p:cNvSpPr txBox="true"/>
          <p:nvPr/>
        </p:nvSpPr>
        <p:spPr>
          <a:xfrm>
            <a:off x="681316" y="4569388"/>
            <a:ext cx="3012141" cy="381258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b="true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应用一句话亮点</a:t>
            </a:r>
            <a:endParaRPr lang="en-US" altLang="zh-CN" sz="1600" b="true" dirty="false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20" name="文本框 4"/>
          <p:cNvSpPr txBox="true"/>
          <p:nvPr/>
        </p:nvSpPr>
        <p:spPr>
          <a:xfrm>
            <a:off x="681316" y="950500"/>
            <a:ext cx="8516472" cy="1981696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b="true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团队简介：</a:t>
            </a:r>
            <a:endParaRPr lang="en-US" altLang="zh-CN" sz="1600" b="true" dirty="false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队长： 孙涵韬</a:t>
            </a:r>
            <a:endParaRPr lang="en-US" altLang="zh-CN" sz="1600" dirty="false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团队成员： 孙涵韬（独立开发）</a:t>
            </a:r>
            <a:endParaRPr lang="en-US" altLang="zh-CN" sz="1600" dirty="false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学校&amp;专业： 上海杉达学院 · 数据科学与大数据技术</a:t>
            </a:r>
            <a:r>
              <a:rPr lang="en-US" altLang="zh-CN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/>
            </a:r>
            <a:r>
              <a:rPr lang="zh-CN" altLang="en-US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/>
            </a:r>
            <a:endParaRPr lang="en-US" altLang="zh-CN" sz="1600" dirty="false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指导老师： 祝欣蓉</a:t>
            </a:r>
            <a:endParaRPr lang="en-US" altLang="zh-CN" sz="1600" dirty="false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联络人手机号&amp;微信号： 13601785818 / bobohihihihi</a:t>
            </a:r>
            <a:r>
              <a:rPr lang="en-US" altLang="zh-CN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/>
            </a:r>
            <a:r>
              <a:rPr lang="zh-CN" altLang="en-US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/>
            </a:r>
            <a:endParaRPr lang="en-US" altLang="zh-CN" sz="1600" dirty="false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3410712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b="0" sz="1300">
                <a:solidFill>
                  <a:srgbClr val="404040"/>
                </a:solidFill>
                <a:latin typeface="微软雅黑"/>
              </a:rPr>
              <a:t>作为在校学生，我发现鸿蒙 PC 端一直缺少一款好用的课表工具：现有课表应用多为手机竖屏设计，放到 2in1 大屏上要么拉伸变形、要么功能缩水。于是我开发了「杉课」——专为 HarmonyOS PC/2in1 打造的课表应用，支持拍照识别、Excel、CSV 一键导入，用重要程度分色呈现每周安排。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9834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b="1" sz="1500">
                <a:solidFill>
                  <a:srgbClr val="E87D2B"/>
                </a:solidFill>
                <a:latin typeface="微软雅黑"/>
              </a:rPr>
              <a:t>专为鸿蒙 PC 原生打造的零权限离线课表：课表图片一拍，即变结构化周视图。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1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占位符 2"/>
          <p:cNvSpPr>
            <a:spLocks noGrp="true"/>
          </p:cNvSpPr>
          <p:nvPr>
            <p:ph type="body" sz="quarter" idx="13"/>
          </p:nvPr>
        </p:nvSpPr>
        <p:spPr>
          <a:xfrm>
            <a:off x="195815" y="200290"/>
            <a:ext cx="5966068" cy="446134"/>
          </a:xfrm>
        </p:spPr>
        <p:txBody>
          <a:bodyPr anchor="ctr"/>
          <a:lstStyle/>
          <a:p>
            <a:pPr/>
            <a:r>
              <a:rPr kumimoji="true" lang="zh-CN" altLang="en-US" sz="2800" dirty="false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应用核心功能</a:t>
            </a:r>
            <a:endParaRPr/>
          </a:p>
        </p:txBody>
      </p:sp>
      <p:sp>
        <p:nvSpPr>
          <p:cNvPr id="24" name="文本框 3"/>
          <p:cNvSpPr txBox="true"/>
          <p:nvPr/>
        </p:nvSpPr>
        <p:spPr>
          <a:xfrm>
            <a:off x="600634" y="1109012"/>
            <a:ext cx="9010957" cy="381258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差异化功能一览（对比手机端课程表与安卓 / iOS 同类应用）</a:t>
            </a:r>
            <a:r>
              <a:rPr lang="en-US" altLang="zh-CN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/>
            </a:r>
            <a:r>
              <a:rPr lang="zh-CN" altLang="en-US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/>
            </a:r>
            <a:r>
              <a:rPr lang="en-US" altLang="zh-CN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/>
            </a:r>
            <a:r>
              <a:rPr lang="zh-CN" altLang="en-US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/>
            </a:r>
            <a:endParaRPr lang="en-US" altLang="zh-CN" sz="1600" dirty="false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3504" y="1572768"/>
            <a:ext cx="63093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400">
                <a:solidFill>
                  <a:srgbClr val="1F4E79"/>
                </a:solidFill>
                <a:latin typeface="微软雅黑"/>
              </a:rPr>
              <a:t>• 离线图片识别导入</a:t>
            </a:r>
          </a:p>
          <a:p>
            <a:pPr>
              <a:spcAft>
                <a:spcPts val="800"/>
              </a:spcAft>
            </a:pPr>
            <a:r>
              <a:rPr b="0" sz="1250">
                <a:solidFill>
                  <a:srgbClr val="404040"/>
                </a:solidFill>
                <a:latin typeface="微软雅黑"/>
              </a:rPr>
              <a:t>    调用系统端侧 OCR，课表截图或拍照免登录自动解析，全程离线、数据不出设备。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1F4E79"/>
                </a:solidFill>
                <a:latin typeface="微软雅黑"/>
              </a:rPr>
              <a:t>• 多格式文件导入</a:t>
            </a:r>
          </a:p>
          <a:p>
            <a:pPr>
              <a:spcAft>
                <a:spcPts val="800"/>
              </a:spcAft>
            </a:pPr>
            <a:r>
              <a:rPr b="0" sz="1250">
                <a:solidFill>
                  <a:srgbClr val="404040"/>
                </a:solidFill>
                <a:latin typeface="微软雅黑"/>
              </a:rPr>
              <a:t>    教务系统导出的 xlsx / CSV 课表文件直接解析成结构化课程，无需手动逐条录入。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1F4E79"/>
                </a:solidFill>
                <a:latin typeface="微软雅黑"/>
              </a:rPr>
              <a:t>• 重要程度分色显示</a:t>
            </a:r>
          </a:p>
          <a:p>
            <a:pPr>
              <a:spcAft>
                <a:spcPts val="800"/>
              </a:spcAft>
            </a:pPr>
            <a:r>
              <a:rPr b="0" sz="1250">
                <a:solidFill>
                  <a:srgbClr val="404040"/>
                </a:solidFill>
                <a:latin typeface="微软雅黑"/>
              </a:rPr>
              <a:t>    按课程重要程度三色渲染课表格子，本周重点一眼锁定，时段与周次可灵活调整。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1F4E79"/>
                </a:solidFill>
                <a:latin typeface="微软雅黑"/>
              </a:rPr>
              <a:t>• 大屏原生周视图</a:t>
            </a:r>
          </a:p>
          <a:p>
            <a:pPr>
              <a:spcAft>
                <a:spcPts val="800"/>
              </a:spcAft>
            </a:pPr>
            <a:r>
              <a:rPr b="0" sz="1250">
                <a:solidFill>
                  <a:srgbClr val="404040"/>
                </a:solidFill>
                <a:latin typeface="微软雅黑"/>
              </a:rPr>
              <a:t>    PC / 2in1 全宽七列网格 + 节次时间轴 + 本周高亮，充分释放横屏大屏空间。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1F4E79"/>
                </a:solidFill>
                <a:latin typeface="微软雅黑"/>
              </a:rPr>
              <a:t>• 课程详情与自定义备注</a:t>
            </a:r>
          </a:p>
          <a:p>
            <a:pPr>
              <a:spcAft>
                <a:spcPts val="800"/>
              </a:spcAft>
            </a:pPr>
            <a:r>
              <a:rPr b="0" sz="1250">
                <a:solidFill>
                  <a:srgbClr val="404040"/>
                </a:solidFill>
                <a:latin typeface="微软雅黑"/>
              </a:rPr>
              <a:t>    点击课程即见任科老师与课程内容介绍，支持独立自定义备注随时补充记录。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1F4E79"/>
                </a:solidFill>
                <a:latin typeface="微软雅黑"/>
              </a:rPr>
              <a:t>• 零权限纯本地</a:t>
            </a:r>
          </a:p>
          <a:p>
            <a:pPr>
              <a:spcAft>
                <a:spcPts val="800"/>
              </a:spcAft>
            </a:pPr>
            <a:r>
              <a:rPr b="0" sz="1250">
                <a:solidFill>
                  <a:srgbClr val="404040"/>
                </a:solidFill>
                <a:latin typeface="微软雅黑"/>
              </a:rPr>
              <a:t>    不申请任何隐私权限、不发网络请求，数据全部本地数据库存储，无网完整可用。</a:t>
            </a:r>
          </a:p>
        </p:txBody>
      </p:sp>
      <p:pic xmlns:r="http://schemas.openxmlformats.org/officeDocument/2006/relationships">
        <p:nvPicPr>
          <p:cNvPr id="26" name="Picture 25" descr="upload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572768"/>
            <a:ext cx="4526280" cy="2546032"/>
          </a:xfrm>
          <a:prstGeom prst="rect">
            <a:avLst/>
          </a:prstGeom>
          <a:ln w="9525">
            <a:solidFill>
              <a:srgbClr val="D0D0D0"/>
            </a:solidFill>
          </a:ln>
        </p:spPr>
      </p:pic>
      <p:pic xmlns:r="http://schemas.openxmlformats.org/officeDocument/2006/relationships">
        <p:nvPicPr>
          <p:cNvPr id="27" name="Picture 26" descr="upload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4160520"/>
            <a:ext cx="4526280" cy="2546032"/>
          </a:xfrm>
          <a:prstGeom prst="rect">
            <a:avLst/>
          </a:prstGeom>
          <a:ln w="9525">
            <a:solidFill>
              <a:srgbClr val="D0D0D0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1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>5</a:t>
            </a:fld>
            <a:endParaRPr lang="zh-CN" altLang="en-US"/>
          </a:p>
        </p:txBody>
      </p:sp>
      <p:sp>
        <p:nvSpPr>
          <p:cNvPr id="27" name="文本占位符 2"/>
          <p:cNvSpPr>
            <a:spLocks noGrp="true"/>
          </p:cNvSpPr>
          <p:nvPr>
            <p:ph type="body" sz="quarter" idx="13"/>
          </p:nvPr>
        </p:nvSpPr>
        <p:spPr/>
        <p:txBody>
          <a:bodyPr/>
          <a:lstStyle/>
          <a:p>
            <a:pPr/>
            <a:r>
              <a:rPr lang="zh-CN" altLang="en-US" dirty="false"/>
              <a:t>创新性</a:t>
            </a:r>
            <a:endParaRPr/>
          </a:p>
        </p:txBody>
      </p:sp>
      <p:sp>
        <p:nvSpPr>
          <p:cNvPr id="28" name="文本框 3"/>
          <p:cNvSpPr txBox="true"/>
          <p:nvPr/>
        </p:nvSpPr>
        <p:spPr>
          <a:xfrm>
            <a:off x="600634" y="1109012"/>
            <a:ext cx="3836895" cy="381258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体验的创新与提升</a:t>
            </a:r>
            <a:r>
              <a:rPr lang="en-US" altLang="zh-CN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/>
            </a:r>
            <a:r>
              <a:rPr lang="zh-CN" altLang="en-US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/>
            </a:r>
            <a:endParaRPr lang="en-US" altLang="zh-CN" sz="1600" dirty="false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29" name="文本框 4"/>
          <p:cNvSpPr txBox="true"/>
          <p:nvPr/>
        </p:nvSpPr>
        <p:spPr>
          <a:xfrm>
            <a:off x="600634" y="3923929"/>
            <a:ext cx="3836895" cy="381258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接入的鸿蒙特性</a:t>
            </a:r>
            <a:r>
              <a:rPr lang="en-US" altLang="zh-CN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/>
            </a:r>
            <a:r>
              <a:rPr lang="zh-CN" altLang="en-US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/>
            </a:r>
            <a:endParaRPr lang="en-US" altLang="zh-CN" sz="1600" dirty="false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03504" y="1572768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0" sz="1300">
                <a:solidFill>
                  <a:srgbClr val="404040"/>
                </a:solidFill>
                <a:latin typeface="微软雅黑"/>
              </a:rPr>
              <a:t>一拍即得：课表图片离线 OCR + 智能网格解析，自动还原为结构化课表，导入全程不到一分钟。</a:t>
            </a:r>
          </a:p>
          <a:p>
            <a:pPr>
              <a:spcAft>
                <a:spcPts val="800"/>
              </a:spcAft>
            </a:pPr>
            <a:r>
              <a:rPr b="0" sz="1300">
                <a:solidFill>
                  <a:srgbClr val="404040"/>
                </a:solidFill>
                <a:latin typeface="微软雅黑"/>
              </a:rPr>
              <a:t>为大屏重新设计：宽屏七列网格、居中弹窗编辑、键鼠友好操作，交互对齐 PC 桌面应用习惯。</a:t>
            </a:r>
          </a:p>
          <a:p>
            <a:pPr>
              <a:spcAft>
                <a:spcPts val="800"/>
              </a:spcAft>
            </a:pPr>
            <a:r>
              <a:rPr b="0" sz="1300">
                <a:solidFill>
                  <a:srgbClr val="404040"/>
                </a:solidFill>
                <a:latin typeface="微软雅黑"/>
              </a:rPr>
              <a:t>灵活可调：节次时间、学期起点自由设置，当前周次自动推算，重要程度分色随时调整。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" y="438912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0" sz="1300">
                <a:solidFill>
                  <a:srgbClr val="404040"/>
                </a:solidFill>
                <a:latin typeface="微软雅黑"/>
              </a:rPr>
              <a:t>Core Vision Kit 端侧文本识别：免权限、纯离线 OCR，截图识别全程在设备本地完成，隐私不外泄。</a:t>
            </a:r>
          </a:p>
          <a:p>
            <a:pPr>
              <a:spcAft>
                <a:spcPts val="800"/>
              </a:spcAft>
            </a:pPr>
            <a:r>
              <a:rPr b="0" sz="1300">
                <a:solidFill>
                  <a:srgbClr val="404040"/>
                </a:solidFill>
                <a:latin typeface="微软雅黑"/>
              </a:rPr>
              <a:t>ArkUI 响应式布局 + Navigation 导航：原生适配 2in1 大屏，窗口自由缩放布局不变形，页面转场系统级流畅。</a:t>
            </a:r>
          </a:p>
          <a:p>
            <a:pPr>
              <a:spcAft>
                <a:spcPts val="800"/>
              </a:spcAft>
            </a:pPr>
            <a:r>
              <a:rPr b="0" sz="1300">
                <a:solidFill>
                  <a:srgbClr val="404040"/>
                </a:solidFill>
                <a:latin typeface="微软雅黑"/>
              </a:rPr>
              <a:t>relationalStore 本地数据库 + AppStorage 联动：WAL 模式可靠存储，跨页面状态即时刷新，离线场景完整可用。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1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>6</a:t>
            </a:fld>
            <a:endParaRPr lang="zh-CN" altLang="en-US"/>
          </a:p>
        </p:txBody>
      </p:sp>
      <p:sp>
        <p:nvSpPr>
          <p:cNvPr id="32" name="文本占位符 2"/>
          <p:cNvSpPr>
            <a:spLocks noGrp="true"/>
          </p:cNvSpPr>
          <p:nvPr>
            <p:ph type="body" sz="quarter" idx="13"/>
          </p:nvPr>
        </p:nvSpPr>
        <p:spPr/>
        <p:txBody>
          <a:bodyPr/>
          <a:lstStyle/>
          <a:p>
            <a:pPr/>
            <a:r>
              <a:rPr lang="zh-CN" altLang="en-US" dirty="false"/>
              <a:t>商业价值</a:t>
            </a:r>
            <a:endParaRPr/>
          </a:p>
        </p:txBody>
      </p:sp>
      <p:sp>
        <p:nvSpPr>
          <p:cNvPr id="33" name="文本框 3"/>
          <p:cNvSpPr txBox="true"/>
          <p:nvPr/>
        </p:nvSpPr>
        <p:spPr>
          <a:xfrm>
            <a:off x="600634" y="1109012"/>
            <a:ext cx="3836895" cy="381258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>用户范围、用户反馈、商业潜力</a:t>
            </a:r>
            <a:endParaRPr lang="en-US" altLang="zh-CN" sz="1600" dirty="false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03504" y="16002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500">
                <a:solidFill>
                  <a:srgbClr val="1F4E79"/>
                </a:solidFill>
                <a:latin typeface="微软雅黑"/>
              </a:rPr>
              <a:t>用户范围</a:t>
            </a:r>
          </a:p>
          <a:p>
            <a:pPr>
              <a:spcAft>
                <a:spcPts val="1200"/>
              </a:spcAft>
            </a:pPr>
            <a:r>
              <a:rPr b="0" sz="1300">
                <a:solidFill>
                  <a:srgbClr val="404040"/>
                </a:solidFill>
                <a:latin typeface="微软雅黑"/>
              </a:rPr>
              <a:t>面向全国高校学生及鸿蒙 PC / 2in1 设备用户；课表是大学四年高频刚需，随鸿蒙 PC 生态扩张，目标用户群同步快速增长。</a:t>
            </a:r>
          </a:p>
          <a:p>
            <a:pPr>
              <a:spcAft>
                <a:spcPts val="200"/>
              </a:spcAft>
            </a:pPr>
            <a:r>
              <a:rPr b="1" sz="1500">
                <a:solidFill>
                  <a:srgbClr val="1F4E79"/>
                </a:solidFill>
                <a:latin typeface="微软雅黑"/>
              </a:rPr>
              <a:t>用户反馈</a:t>
            </a:r>
          </a:p>
          <a:p>
            <a:pPr>
              <a:spcAft>
                <a:spcPts val="1200"/>
              </a:spcAft>
            </a:pPr>
            <a:r>
              <a:rPr b="0" sz="1300">
                <a:solidFill>
                  <a:srgbClr val="404040"/>
                </a:solidFill>
                <a:latin typeface="微软雅黑"/>
              </a:rPr>
              <a:t>应用已通过华为应用市场审核并公开上架，完成 1.0.1 → 1.0.2 版本迭代；依托校园社团与同学实测持续收集反馈，快速修复优化。</a:t>
            </a:r>
          </a:p>
          <a:p>
            <a:pPr>
              <a:spcAft>
                <a:spcPts val="200"/>
              </a:spcAft>
            </a:pPr>
            <a:r>
              <a:rPr b="1" sz="1500">
                <a:solidFill>
                  <a:srgbClr val="1F4E79"/>
                </a:solidFill>
                <a:latin typeface="微软雅黑"/>
              </a:rPr>
              <a:t>商业潜力</a:t>
            </a:r>
          </a:p>
          <a:p>
            <a:pPr>
              <a:spcAft>
                <a:spcPts val="1200"/>
              </a:spcAft>
            </a:pPr>
            <a:r>
              <a:rPr b="0" sz="1300">
                <a:solidFill>
                  <a:srgbClr val="404040"/>
                </a:solidFill>
                <a:latin typeface="微软雅黑"/>
              </a:rPr>
              <a:t>课表是校园场景的天然入口，可自然延展课程提醒、考试倒计时、GPA 计算等功能矩阵；纯本地零权限架构建立信任壁垒，后续可平滑拓展云同步等增值服务。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灯片编号占位符 1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>7</a:t>
            </a:fld>
            <a:endParaRPr lang="zh-CN" altLang="en-US"/>
          </a:p>
        </p:txBody>
      </p:sp>
      <p:sp>
        <p:nvSpPr>
          <p:cNvPr id="36" name="文本占位符 2"/>
          <p:cNvSpPr>
            <a:spLocks noGrp="true"/>
          </p:cNvSpPr>
          <p:nvPr>
            <p:ph type="body" sz="quarter" idx="13"/>
          </p:nvPr>
        </p:nvSpPr>
        <p:spPr/>
        <p:txBody>
          <a:bodyPr/>
          <a:lstStyle/>
          <a:p>
            <a:pPr/>
            <a:r>
              <a:rPr lang="en-US" altLang="zh-CN" dirty="false"/>
              <a:t>Demo</a:t>
            </a:r>
            <a:endParaRPr lang="zh-CN" altLang="en-US" dirty="false"/>
          </a:p>
        </p:txBody>
      </p:sp>
      <p:sp>
        <p:nvSpPr>
          <p:cNvPr id="37" name="文本框 3"/>
          <p:cNvSpPr txBox="true"/>
          <p:nvPr/>
        </p:nvSpPr>
        <p:spPr>
          <a:xfrm>
            <a:off x="600634" y="1109012"/>
            <a:ext cx="3836895" cy="4754880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fontAlgn="base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altLang="en-US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/>
            </a:r>
            <a:r>
              <a:rPr lang="en-US" altLang="zh-CN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/>
            </a:r>
            <a:r>
              <a:rPr lang="zh-CN" altLang="en-US" sz="1600" dirty="false">
                <a:latin typeface="微软雅黑" panose="020B0503020204020204" pitchFamily="34" charset="-122"/>
                <a:ea typeface="微软雅黑" panose="020B0503020204020204" pitchFamily="34" charset="-122"/>
                <a:cs typeface="Source Han Sans CN Regular" panose="020B0800000000000000" charset="-122"/>
              </a:rPr>
              <a:t/>
            </a:r>
            <a:endParaRPr lang="en-US" altLang="zh-CN" sz="1600" dirty="false">
              <a:latin typeface="微软雅黑" panose="020B0503020204020204" pitchFamily="34" charset="-122"/>
              <a:ea typeface="微软雅黑" panose="020B0503020204020204" pitchFamily="34" charset="-122"/>
              <a:cs typeface="Source Han Sans CN Regular" panose="020B0800000000000000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03504" y="13258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1F4E79"/>
                </a:solidFill>
                <a:latin typeface="微软雅黑"/>
              </a:rPr>
              <a:t>Demo 演示视频：demo/杉课功能演示.mp4（随仓库一并提交，时长约 1 分钟）</a:t>
            </a:r>
          </a:p>
          <a:p>
            <a:pPr>
              <a:spcAft>
                <a:spcPts val="800"/>
              </a:spcAft>
            </a:pPr>
            <a:r>
              <a:rPr b="0" sz="1300">
                <a:solidFill>
                  <a:srgbClr val="404040"/>
                </a:solidFill>
                <a:latin typeface="微软雅黑"/>
              </a:rPr>
              <a:t>• 视频内容：图片 OCR 识别导入课表 → 周视图分色展示 → 课程详情与自定义备注 → 编辑课程信息实时刷新。</a:t>
            </a:r>
          </a:p>
          <a:p>
            <a:pPr>
              <a:spcAft>
                <a:spcPts val="800"/>
              </a:spcAft>
            </a:pPr>
            <a:r>
              <a:rPr b="0" sz="1300">
                <a:solidFill>
                  <a:srgbClr val="404040"/>
                </a:solidFill>
                <a:latin typeface="微软雅黑"/>
              </a:rPr>
              <a:t>• 演示环境：HarmonyOS PC 模拟器（MateBook Pro 2in1），全程真实操作录屏。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>
          <a:srgbClr val="08A8F6"/>
        </a:solidFill>
        <a:effectLst/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8"/>
          <p:cNvSpPr txBox="true"/>
          <p:nvPr/>
        </p:nvSpPr>
        <p:spPr>
          <a:xfrm>
            <a:off x="3557237" y="1942121"/>
            <a:ext cx="5077527" cy="1107996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marL="0" marR="0" lvl="0" indent="0" algn="ctr" defTabSz="914400" rtl="false" eaLnBrk="true" fontAlgn="base" latinLnBrk="false" hangingPunct="true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r>
              <a:rPr kumimoji="false" lang="zh-CN" altLang="en-US" sz="6600" b="true" i="false" u="none" strike="noStrike" kern="1200" cap="none" spc="0" normalizeH="false" baseline="0" noProof="false" dirty="false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armonyOS Sans" panose="00000800000000000000" charset="0"/>
              </a:rPr>
              <a:t>谢  谢</a:t>
            </a:r>
            <a:endParaRPr kumimoji="false" lang="en-US" altLang="zh-CN" sz="6600" b="true" i="false" u="none" strike="noStrike" kern="1200" cap="none" spc="0" normalizeH="false" baseline="0" noProof="false" dirty="false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HarmonyOS Sans" panose="00000800000000000000" charset="0"/>
            </a:endParaRPr>
          </a:p>
        </p:txBody>
      </p:sp>
      <p:sp>
        <p:nvSpPr>
          <p:cNvPr id="40" name="灯片编号占位符 2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49AE70B2-8BF9-45C0-BB95-33D1B9D3A854}" type="slidenum">
              <a:rPr lang="zh-CN" altLang="en-US" smtClean="false"/>
              <a:t>8</a:t>
            </a:fld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false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false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true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false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false"/>
          </a:effectLst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2026-10-18T00:54:22Z</dcterms:created>
  <dcterms:modified xsi:type="dcterms:W3CDTF">2026-10-18T00:54:22Z</dcterms:modified>
</cp:coreProperties>
</file>